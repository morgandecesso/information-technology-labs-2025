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75" r:id="rId4"/>
  </p:sldMasterIdLst>
  <p:notesMasterIdLst>
    <p:notesMasterId r:id="rId9"/>
  </p:notesMasterIdLst>
  <p:handoutMasterIdLst>
    <p:handoutMasterId r:id="rId10"/>
  </p:handoutMasterIdLst>
  <p:sldIdLst>
    <p:sldId id="256" r:id="rId5"/>
    <p:sldId id="278" r:id="rId6"/>
    <p:sldId id="258" r:id="rId7"/>
    <p:sldId id="271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5D5D6"/>
    <a:srgbClr val="89898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3" autoAdjust="0"/>
    <p:restoredTop sz="90655" autoAdjust="0"/>
  </p:normalViewPr>
  <p:slideViewPr>
    <p:cSldViewPr snapToGrid="0">
      <p:cViewPr varScale="1">
        <p:scale>
          <a:sx n="107" d="100"/>
          <a:sy n="107" d="100"/>
        </p:scale>
        <p:origin x="84" y="212"/>
      </p:cViewPr>
      <p:guideLst/>
    </p:cSldViewPr>
  </p:slideViewPr>
  <p:outlineViewPr>
    <p:cViewPr>
      <p:scale>
        <a:sx n="33" d="100"/>
        <a:sy n="33" d="100"/>
      </p:scale>
      <p:origin x="0" y="-288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80" d="100"/>
          <a:sy n="80" d="100"/>
        </p:scale>
        <p:origin x="3984" y="14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3E7F456E-01A6-4013-ACA5-F5492591A24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484983A3-9B9B-4D61-97C9-B9E239A315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ru-RU" sz="1200"/>
            </a:lvl1pPr>
          </a:lstStyle>
          <a:p>
            <a:pPr rtl="0"/>
            <a:fld id="{61D17ACC-377E-4FC0-B594-0259E4F18B53}" type="datetime1">
              <a:rPr lang="ru-RU" smtClean="0"/>
              <a:t>26.12.2025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EEABE74-7A97-4D17-8390-42ADD25C33C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42C1DBD-1052-425E-BF3C-983304BED5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ru-RU" sz="1200"/>
            </a:lvl1pPr>
          </a:lstStyle>
          <a:p>
            <a:pPr rtl="0"/>
            <a:fld id="{28EEFA9E-C190-4F5C-8394-BD5F1CD55C02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248019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ru-RU" sz="1200"/>
            </a:lvl1pPr>
          </a:lstStyle>
          <a:p>
            <a:fld id="{A94106A3-03A6-4269-91E5-6C81A63C5F07}" type="datetime1">
              <a:rPr lang="ru-RU" smtClean="0"/>
              <a:pPr/>
              <a:t>26.12.2025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ru-RU"/>
            </a:defPPr>
          </a:lstStyle>
          <a:p>
            <a:pPr lvl="0" rtl="0"/>
            <a:r>
              <a:rPr lang="ru-RU"/>
              <a:t>Щелкните, чтобы изменить стили текста образца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ru-RU" sz="1200"/>
            </a:lvl1pPr>
          </a:lstStyle>
          <a:p>
            <a:pPr rtl="0"/>
            <a:fld id="{22289C57-55D7-40A4-A101-E74FAC7A092B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39902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22289C57-55D7-40A4-A101-E74FAC7A092B}" type="slidenum">
              <a:rPr lang="ru-RU" smtClean="0"/>
              <a:t>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781288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22289C57-55D7-40A4-A101-E74FAC7A092B}" type="slidenum">
              <a:rPr lang="ru-RU" smtClean="0"/>
              <a:t>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825226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22289C57-55D7-40A4-A101-E74FAC7A092B}" type="slidenum">
              <a:rPr lang="ru-RU" smtClean="0"/>
              <a:t>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439544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22289C57-55D7-40A4-A101-E74FAC7A092B}" type="slidenum">
              <a:rPr lang="ru-RU" smtClean="0"/>
              <a:t>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026838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r>
              <a:rPr lang="ru-RU"/>
              <a:t>ЗАГОЛОВОК ПРЕЗЕНТАЦИИ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A49DFD55-3C28-40EF-9E31-A92D2E4017FF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9525081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ЗАГОЛОВОК ПРЕЗЕНТАЦИИ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49377508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ЗАГОЛОВОК ПРЕЗЕНТАЦИИ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434626848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ЗАГОЛОВОК ПРЕЗЕНТАЦИИ</a:t>
            </a:r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23496560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ЗАГОЛОВОК ПРЕЗЕНТАЦИИ</a:t>
            </a:r>
            <a:endParaRPr lang="ru-R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98174481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ЗАГОЛОВОК ПРЕЗЕНТАЦИИ</a:t>
            </a:r>
            <a:endParaRPr lang="ru-R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94666235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ЗАГОЛОВОК ПРЕЗЕНТАЦИИ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46208520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ЗАГОЛОВОК ПРЕЗЕНТАЦИИ</a:t>
            </a:r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60134971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ЗАГОЛОВОК ПРЕЗЕНТАЦИИ</a:t>
            </a:r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8063216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ЗАГОЛОВОК ПРЕЗЕНТАЦИИ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88459033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ЗАГОЛОВОК ПРЕЗЕНТАЦИИ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22109559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41918" y="3329790"/>
            <a:ext cx="4941771" cy="3200400"/>
          </a:xfrm>
        </p:spPr>
        <p:txBody>
          <a:bodyPr rtlCol="0" anchor="ctr">
            <a:noAutofit/>
          </a:bodyPr>
          <a:lstStyle>
            <a:lvl1pPr algn="l">
              <a:defRPr lang="ru-RU" sz="3600" spc="150" baseline="0"/>
            </a:lvl1pPr>
          </a:lstStyle>
          <a:p>
            <a:pPr rtl="0"/>
            <a:r>
              <a:rPr lang="ru-RU"/>
              <a:t>ЩЕЛКНИТЕ, ЧТОБЫ добавить заголовок</a:t>
            </a:r>
          </a:p>
        </p:txBody>
      </p:sp>
      <p:pic>
        <p:nvPicPr>
          <p:cNvPr id="8" name="Графический объект 7">
            <a:extLst>
              <a:ext uri="{FF2B5EF4-FFF2-40B4-BE49-F238E27FC236}">
                <a16:creationId xmlns:a16="http://schemas.microsoft.com/office/drawing/2014/main" id="{A04F1E16-9A84-4D0E-9706-79C396AF6A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70451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Таблица 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1" y="895350"/>
            <a:ext cx="3247662" cy="1917700"/>
          </a:xfrm>
        </p:spPr>
        <p:txBody>
          <a:bodyPr rtlCol="0">
            <a:normAutofit/>
          </a:bodyPr>
          <a:lstStyle>
            <a:lvl1pPr algn="l">
              <a:defRPr lang="ru-RU" sz="2400" kern="1200" spc="150" baseline="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pPr rtl="0"/>
            <a:r>
              <a:rPr lang="ru-RU" dirty="0"/>
              <a:t>ЩЕЛКНИТЕ, ЧТОБЫ добавить заголовок</a:t>
            </a:r>
          </a:p>
        </p:txBody>
      </p:sp>
      <p:sp>
        <p:nvSpPr>
          <p:cNvPr id="3" name="Объект 3">
            <a:extLst>
              <a:ext uri="{FF2B5EF4-FFF2-40B4-BE49-F238E27FC236}">
                <a16:creationId xmlns:a16="http://schemas.microsoft.com/office/drawing/2014/main" id="{A14C3057-3BCC-F9A2-98D8-17DDB36F1823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838200" y="2813049"/>
            <a:ext cx="3247662" cy="3238499"/>
          </a:xfrm>
        </p:spPr>
        <p:txBody>
          <a:bodyPr tIns="0"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lang="ru-RU"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ru-RU"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ru-RU"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ru-RU"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ru-RU" sz="1800" spc="50" baseline="0"/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8" name="Заполнитель таблицы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4216396" y="895927"/>
            <a:ext cx="7137404" cy="5115889"/>
          </a:xfrm>
        </p:spPr>
        <p:txBody>
          <a:bodyPr rtlCol="0">
            <a:normAutofit/>
          </a:bodyPr>
          <a:lstStyle>
            <a:lvl1pPr marL="0" indent="0" algn="ctr">
              <a:buNone/>
              <a:defRPr lang="ru-RU" sz="2000"/>
            </a:lvl1pPr>
          </a:lstStyle>
          <a:p>
            <a:pPr rtl="0"/>
            <a:r>
              <a:rPr lang="ru-RU"/>
              <a:t>Вставка таблицы</a:t>
            </a:r>
            <a:endParaRPr lang="ru-RU" dirty="0"/>
          </a:p>
        </p:txBody>
      </p:sp>
      <p:sp>
        <p:nvSpPr>
          <p:cNvPr id="10" name="Нижний колонтитул 4">
            <a:extLst>
              <a:ext uri="{FF2B5EF4-FFF2-40B4-BE49-F238E27FC236}">
                <a16:creationId xmlns:a16="http://schemas.microsoft.com/office/drawing/2014/main" id="{5F91997C-538B-C8B9-14D7-31A1932F6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1615" y="6356349"/>
            <a:ext cx="3819228" cy="365125"/>
          </a:xfrm>
        </p:spPr>
        <p:txBody>
          <a:bodyPr rtlCol="0"/>
          <a:lstStyle>
            <a:lvl1pPr algn="l">
              <a:defRPr lang="ru-RU" sz="900"/>
            </a:lvl1pPr>
          </a:lstStyle>
          <a:p>
            <a:pPr rtl="0"/>
            <a:r>
              <a:rPr lang="ru-RU"/>
              <a:t>ЗАГОЛОВОК ПРЕЗЕНТАЦИИ</a:t>
            </a:r>
          </a:p>
        </p:txBody>
      </p:sp>
      <p:sp>
        <p:nvSpPr>
          <p:cNvPr id="11" name="Номер слайда 5">
            <a:extLst>
              <a:ext uri="{FF2B5EF4-FFF2-40B4-BE49-F238E27FC236}">
                <a16:creationId xmlns:a16="http://schemas.microsoft.com/office/drawing/2014/main" id="{1F777EF4-982E-9337-7E82-31DC723C1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 rtlCol="0"/>
          <a:lstStyle>
            <a:lvl1pPr>
              <a:defRPr lang="ru-RU" sz="900"/>
            </a:lvl1pPr>
          </a:lstStyle>
          <a:p>
            <a:pPr rtl="0"/>
            <a:fld id="{A49DFD55-3C28-40EF-9E31-A92D2E4017FF}" type="slidenum">
              <a:rPr lang="ru-RU" smtClean="0"/>
              <a:pPr/>
              <a:t>‹#›</a:t>
            </a:fld>
            <a:endParaRPr lang="ru-RU" dirty="0"/>
          </a:p>
        </p:txBody>
      </p:sp>
      <p:grpSp>
        <p:nvGrpSpPr>
          <p:cNvPr id="14" name="Группа 13">
            <a:extLst>
              <a:ext uri="{FF2B5EF4-FFF2-40B4-BE49-F238E27FC236}">
                <a16:creationId xmlns:a16="http://schemas.microsoft.com/office/drawing/2014/main" id="{E34303BA-AFB6-0E22-486F-785994E3B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327564" cy="1505528"/>
            <a:chOff x="0" y="0"/>
            <a:chExt cx="2238376" cy="3105150"/>
          </a:xfrm>
        </p:grpSpPr>
        <p:cxnSp>
          <p:nvCxnSpPr>
            <p:cNvPr id="15" name="Прямая соединительная линия 14">
              <a:extLst>
                <a:ext uri="{FF2B5EF4-FFF2-40B4-BE49-F238E27FC236}">
                  <a16:creationId xmlns:a16="http://schemas.microsoft.com/office/drawing/2014/main" id="{F66E3A08-02EB-7B54-5089-E7A7F19FD725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1238250" cy="310515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Прямая соединительная линия 15">
              <a:extLst>
                <a:ext uri="{FF2B5EF4-FFF2-40B4-BE49-F238E27FC236}">
                  <a16:creationId xmlns:a16="http://schemas.microsoft.com/office/drawing/2014/main" id="{814F9BE5-00B2-ADDF-771C-AB098B36C820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2238376" cy="24765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450050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Вступл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22318" y="268360"/>
            <a:ext cx="7288282" cy="2121177"/>
          </a:xfrm>
        </p:spPr>
        <p:txBody>
          <a:bodyPr rtlCol="0" anchor="b">
            <a:normAutofit/>
          </a:bodyPr>
          <a:lstStyle>
            <a:lvl1pPr>
              <a:defRPr lang="ru-RU" sz="2800" kern="1200" spc="150" baseline="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pPr rtl="0"/>
            <a:r>
              <a:rPr lang="ru-RU" dirty="0"/>
              <a:t>ЩЕЛКНИТЕ, ЧТОБЫ добавить заголовок</a:t>
            </a:r>
          </a:p>
        </p:txBody>
      </p:sp>
      <p:sp>
        <p:nvSpPr>
          <p:cNvPr id="3" name="Объект 3">
            <a:extLst>
              <a:ext uri="{FF2B5EF4-FFF2-40B4-BE49-F238E27FC236}">
                <a16:creationId xmlns:a16="http://schemas.microsoft.com/office/drawing/2014/main" id="{EAC9D25F-5B3D-F5B2-5D02-C6BC6AA8987B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322388" y="2763078"/>
            <a:ext cx="7288212" cy="3407051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lang="ru-RU" sz="1800" b="1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ru-RU"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ru-RU"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ru-RU"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ru-RU" sz="1800" spc="50" baseline="0"/>
            </a:lvl5pPr>
          </a:lstStyle>
          <a:p>
            <a:pPr lvl="0" rtl="0"/>
            <a:r>
              <a:rPr lang="ru-RU" dirty="0"/>
              <a:t>Щелкните, чтобы добавить содержимое</a:t>
            </a:r>
          </a:p>
          <a:p>
            <a:pPr lvl="1" rtl="0"/>
            <a:r>
              <a:rPr lang="ru-RU" dirty="0"/>
              <a:t>Второй уровень</a:t>
            </a:r>
          </a:p>
          <a:p>
            <a:pPr lvl="2" rtl="0"/>
            <a:r>
              <a:rPr lang="ru-RU" dirty="0"/>
              <a:t>Третий уровень</a:t>
            </a:r>
          </a:p>
          <a:p>
            <a:pPr lvl="3" rtl="0"/>
            <a:r>
              <a:rPr lang="ru-RU" dirty="0"/>
              <a:t>Четвертый уровень</a:t>
            </a:r>
          </a:p>
          <a:p>
            <a:pPr lvl="4" rtl="0"/>
            <a:r>
              <a:rPr lang="ru-RU" dirty="0"/>
              <a:t>Пятый уровень</a:t>
            </a: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18E16CF1-2502-F2F0-2C27-2DD7979033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096374" y="-25401"/>
            <a:ext cx="3095625" cy="6883401"/>
            <a:chOff x="9096375" y="-25401"/>
            <a:chExt cx="3095625" cy="6883401"/>
          </a:xfrm>
        </p:grpSpPr>
        <p:cxnSp>
          <p:nvCxnSpPr>
            <p:cNvPr id="10" name="Прямая соединительная линия 9">
              <a:extLst>
                <a:ext uri="{FF2B5EF4-FFF2-40B4-BE49-F238E27FC236}">
                  <a16:creationId xmlns:a16="http://schemas.microsoft.com/office/drawing/2014/main" id="{6322A6FB-333C-65AE-23D8-08BCEA174D43}"/>
                </a:ext>
              </a:extLst>
            </p:cNvPr>
            <p:cNvCxnSpPr/>
            <p:nvPr userDrawn="1"/>
          </p:nvCxnSpPr>
          <p:spPr>
            <a:xfrm>
              <a:off x="9096375" y="1497012"/>
              <a:ext cx="309562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Прямая соединительная линия 10">
              <a:extLst>
                <a:ext uri="{FF2B5EF4-FFF2-40B4-BE49-F238E27FC236}">
                  <a16:creationId xmlns:a16="http://schemas.microsoft.com/office/drawing/2014/main" id="{162BB247-4598-A983-DEBF-6F042C1DB0BC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9381744" y="-25401"/>
              <a:ext cx="2810256" cy="688340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34E84FEE-D475-A71D-7996-5925602ECF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-1" y="-25403"/>
            <a:ext cx="1210573" cy="20481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Нижний колонтитул 4">
            <a:extLst>
              <a:ext uri="{FF2B5EF4-FFF2-40B4-BE49-F238E27FC236}">
                <a16:creationId xmlns:a16="http://schemas.microsoft.com/office/drawing/2014/main" id="{7459776D-4049-CB00-C321-0627C169B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 rtlCol="0"/>
          <a:lstStyle>
            <a:lvl1pPr algn="l">
              <a:defRPr lang="ru-RU" sz="900"/>
            </a:lvl1pPr>
          </a:lstStyle>
          <a:p>
            <a:pPr rtl="0"/>
            <a:r>
              <a:rPr lang="ru-RU"/>
              <a:t>ЗАГОЛОВОК ПРЕЗЕНТАЦИИ</a:t>
            </a:r>
          </a:p>
        </p:txBody>
      </p:sp>
      <p:sp>
        <p:nvSpPr>
          <p:cNvPr id="16" name="Номер слайда 5">
            <a:extLst>
              <a:ext uri="{FF2B5EF4-FFF2-40B4-BE49-F238E27FC236}">
                <a16:creationId xmlns:a16="http://schemas.microsoft.com/office/drawing/2014/main" id="{EDE114AF-34C6-A062-7340-858BC27DA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 rtlCol="0"/>
          <a:lstStyle>
            <a:lvl1pPr>
              <a:defRPr lang="ru-RU" sz="900"/>
            </a:lvl1pPr>
          </a:lstStyle>
          <a:p>
            <a:pPr rtl="0"/>
            <a:fld id="{A49DFD55-3C28-40EF-9E31-A92D2E4017F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423390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азрыв раздела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018"/>
            <a:ext cx="4179570" cy="3377354"/>
          </a:xfrm>
        </p:spPr>
        <p:txBody>
          <a:bodyPr rtlCol="0" anchor="b">
            <a:noAutofit/>
          </a:bodyPr>
          <a:lstStyle>
            <a:lvl1pPr algn="l">
              <a:defRPr lang="ru-RU" sz="3600" spc="150" baseline="0">
                <a:solidFill>
                  <a:schemeClr val="tx1"/>
                </a:solidFill>
              </a:defRPr>
            </a:lvl1pPr>
          </a:lstStyle>
          <a:p>
            <a:pPr rtl="0"/>
            <a:r>
              <a:rPr lang="ru-RU"/>
              <a:t>ЩЕЛКНИТЕ, ЧТОБЫ добавить заголовок</a:t>
            </a: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4A96E214-6A61-C8A7-B1DB-C8C260C134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557818" cy="6858000"/>
            <a:chOff x="0" y="0"/>
            <a:chExt cx="4762501" cy="5186363"/>
          </a:xfrm>
        </p:grpSpPr>
        <p:cxnSp>
          <p:nvCxnSpPr>
            <p:cNvPr id="5" name="Прямая соединительная линия 4">
              <a:extLst>
                <a:ext uri="{FF2B5EF4-FFF2-40B4-BE49-F238E27FC236}">
                  <a16:creationId xmlns:a16="http://schemas.microsoft.com/office/drawing/2014/main" id="{A18BC1BC-99D6-D9F4-19F9-AAE722E2AE61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0" y="876300"/>
              <a:ext cx="4762500" cy="16287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Прямая соединительная линия 5">
              <a:extLst>
                <a:ext uri="{FF2B5EF4-FFF2-40B4-BE49-F238E27FC236}">
                  <a16:creationId xmlns:a16="http://schemas.microsoft.com/office/drawing/2014/main" id="{6816F797-248B-2C75-29B9-DB65A809D47B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2638425" y="0"/>
              <a:ext cx="2124076" cy="518636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825017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ru-RU"/>
              <a:t>ЗАГОЛОВОК ПРЕЗЕНТАЦИИ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A49DFD55-3C28-40EF-9E31-A92D2E4017F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71276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  <p:sldLayoutId id="2147483688" r:id="rId13"/>
    <p:sldLayoutId id="2147483690" r:id="rId14"/>
    <p:sldLayoutId id="2147483669" r:id="rId1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E75451-6A4B-484B-9ED1-353CCE25B0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35981" y="3353541"/>
            <a:ext cx="4941771" cy="3200400"/>
          </a:xfrm>
        </p:spPr>
        <p:txBody>
          <a:bodyPr rtlCol="0" anchor="ctr"/>
          <a:lstStyle>
            <a:defPPr>
              <a:defRPr lang="ru-RU"/>
            </a:defPPr>
          </a:lstStyle>
          <a:p>
            <a:pPr rtl="0"/>
            <a:r>
              <a:rPr lang="ru-RU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Инструменты управления задачами в </a:t>
            </a:r>
            <a:r>
              <a:rPr lang="ru-RU" sz="24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Agile</a:t>
            </a:r>
            <a:r>
              <a:rPr lang="ru-RU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-проектах</a:t>
            </a:r>
            <a:endParaRPr lang="ru-RU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D08CBB-3699-452E-B249-876BC5B40A16}"/>
              </a:ext>
            </a:extLst>
          </p:cNvPr>
          <p:cNvSpPr txBox="1"/>
          <p:nvPr/>
        </p:nvSpPr>
        <p:spPr>
          <a:xfrm>
            <a:off x="5750083" y="5269994"/>
            <a:ext cx="6095010" cy="104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Сравнение популярных инструментов для управления </a:t>
            </a:r>
            <a:r>
              <a:rPr lang="ru-RU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Agile</a:t>
            </a:r>
            <a:r>
              <a:rPr lang="ru-RU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-проектами</a:t>
            </a:r>
          </a:p>
          <a:p>
            <a:endParaRPr lang="ru-RU" sz="1200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sz="12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sz="12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200" dirty="0">
                <a:solidFill>
                  <a:srgbClr val="000000"/>
                </a:solidFill>
                <a:latin typeface="Times New Roman" panose="02020603050405020304" pitchFamily="18" charset="0"/>
              </a:rPr>
              <a:t>			Подготовил Кокорев Алексей ИС-23</a:t>
            </a:r>
            <a:endParaRPr lang="ru-RU" sz="1200" dirty="0"/>
          </a:p>
        </p:txBody>
      </p:sp>
    </p:spTree>
    <p:extLst>
      <p:ext uri="{BB962C8B-B14F-4D97-AF65-F5344CB8AC3E}">
        <p14:creationId xmlns:p14="http://schemas.microsoft.com/office/powerpoint/2010/main" val="2586058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28DBD1-DB29-D44F-FD5A-3071BB37EF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880" y="926503"/>
            <a:ext cx="3247662" cy="927512"/>
          </a:xfrm>
        </p:spPr>
        <p:txBody>
          <a:bodyPr rtlCol="0" anchor="ctr">
            <a:normAutofit/>
          </a:bodyPr>
          <a:lstStyle>
            <a:defPPr>
              <a:defRPr lang="ru-RU"/>
            </a:defPPr>
          </a:lstStyle>
          <a:p>
            <a:pPr rtl="0"/>
            <a:r>
              <a:rPr lang="ru-RU" dirty="0"/>
              <a:t>Сила коммуникации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16B06CF-3691-00B3-B540-5B22D9162D5D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268183" y="1854015"/>
            <a:ext cx="3247662" cy="4275341"/>
          </a:xfrm>
        </p:spPr>
        <p:txBody>
          <a:bodyPr>
            <a:normAutofit/>
          </a:bodyPr>
          <a:lstStyle/>
          <a:p>
            <a:r>
              <a:rPr lang="ru-RU" dirty="0" err="1"/>
              <a:t>Jira</a:t>
            </a:r>
            <a:r>
              <a:rPr lang="ru-RU" dirty="0"/>
              <a:t> — промышленный стандарт для профессиональных команд. </a:t>
            </a:r>
          </a:p>
          <a:p>
            <a:r>
              <a:rPr lang="ru-RU" dirty="0" err="1"/>
              <a:t>Trello</a:t>
            </a:r>
            <a:r>
              <a:rPr lang="ru-RU" dirty="0"/>
              <a:t> — эталон простоты и визуальности. </a:t>
            </a:r>
          </a:p>
          <a:p>
            <a:r>
              <a:rPr lang="ru-RU" dirty="0" err="1"/>
              <a:t>Asana</a:t>
            </a:r>
            <a:r>
              <a:rPr lang="ru-RU" dirty="0"/>
              <a:t> — универсальный инструмент для проектов и гибридных задач. </a:t>
            </a:r>
          </a:p>
          <a:p>
            <a:r>
              <a:rPr lang="ru-RU" dirty="0" err="1"/>
              <a:t>ClickUp</a:t>
            </a:r>
            <a:r>
              <a:rPr lang="ru-RU" dirty="0"/>
              <a:t> — конструктор «всё в одном» с максимальной гибкостью.</a:t>
            </a:r>
            <a:endParaRPr lang="en-US" dirty="0"/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8B52CA97-EFFB-C05C-7256-4C8A8FE7C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>
              <a:spcAft>
                <a:spcPts val="600"/>
              </a:spcAft>
            </a:pPr>
            <a:fld id="{A49DFD55-3C28-40EF-9E31-A92D2E4017FF}" type="slidenum">
              <a:rPr lang="ru-RU" smtClean="0"/>
              <a:pPr rtl="0">
                <a:spcAft>
                  <a:spcPts val="600"/>
                </a:spcAft>
              </a:pPr>
              <a:t>2</a:t>
            </a:fld>
            <a:endParaRPr lang="ru-RU"/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B700DDF4-8856-4C1E-954B-D19C998D64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4322313"/>
              </p:ext>
            </p:extLst>
          </p:nvPr>
        </p:nvGraphicFramePr>
        <p:xfrm>
          <a:off x="3367308" y="0"/>
          <a:ext cx="8824692" cy="686046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92579">
                  <a:extLst>
                    <a:ext uri="{9D8B030D-6E8A-4147-A177-3AD203B41FA5}">
                      <a16:colId xmlns:a16="http://schemas.microsoft.com/office/drawing/2014/main" val="3576609333"/>
                    </a:ext>
                  </a:extLst>
                </a:gridCol>
                <a:gridCol w="1699958">
                  <a:extLst>
                    <a:ext uri="{9D8B030D-6E8A-4147-A177-3AD203B41FA5}">
                      <a16:colId xmlns:a16="http://schemas.microsoft.com/office/drawing/2014/main" val="3613698581"/>
                    </a:ext>
                  </a:extLst>
                </a:gridCol>
                <a:gridCol w="1842380">
                  <a:extLst>
                    <a:ext uri="{9D8B030D-6E8A-4147-A177-3AD203B41FA5}">
                      <a16:colId xmlns:a16="http://schemas.microsoft.com/office/drawing/2014/main" val="966662601"/>
                    </a:ext>
                  </a:extLst>
                </a:gridCol>
                <a:gridCol w="1732597">
                  <a:extLst>
                    <a:ext uri="{9D8B030D-6E8A-4147-A177-3AD203B41FA5}">
                      <a16:colId xmlns:a16="http://schemas.microsoft.com/office/drawing/2014/main" val="1268717248"/>
                    </a:ext>
                  </a:extLst>
                </a:gridCol>
                <a:gridCol w="2357178">
                  <a:extLst>
                    <a:ext uri="{9D8B030D-6E8A-4147-A177-3AD203B41FA5}">
                      <a16:colId xmlns:a16="http://schemas.microsoft.com/office/drawing/2014/main" val="1060076275"/>
                    </a:ext>
                  </a:extLst>
                </a:gridCol>
              </a:tblGrid>
              <a:tr h="443204">
                <a:tc>
                  <a:txBody>
                    <a:bodyPr/>
                    <a:lstStyle/>
                    <a:p>
                      <a:pPr marL="457200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000" dirty="0">
                          <a:effectLst/>
                        </a:rPr>
                        <a:t>Инструмент</a:t>
                      </a:r>
                      <a:endParaRPr lang="ru-RU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995" marR="6995" marT="0" marB="0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000" dirty="0">
                          <a:effectLst/>
                        </a:rPr>
                        <a:t>Ключевые особенности</a:t>
                      </a:r>
                      <a:endParaRPr lang="ru-RU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995" marR="6995" marT="0" marB="0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000" dirty="0">
                          <a:effectLst/>
                        </a:rPr>
                        <a:t>Преимущества в A</a:t>
                      </a:r>
                      <a:r>
                        <a:rPr lang="en-US" sz="1000" dirty="0" err="1">
                          <a:effectLst/>
                        </a:rPr>
                        <a:t>gile</a:t>
                      </a:r>
                      <a:r>
                        <a:rPr lang="en-US" sz="1000" dirty="0">
                          <a:effectLst/>
                        </a:rPr>
                        <a:t> </a:t>
                      </a:r>
                      <a:endParaRPr lang="ru-RU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995" marR="6995" marT="0" marB="0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000" dirty="0">
                          <a:effectLst/>
                        </a:rPr>
                        <a:t>Недостатки</a:t>
                      </a:r>
                      <a:endParaRPr lang="ru-RU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995" marR="6995" marT="0" marB="0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800"/>
                        </a:spcAft>
                      </a:pPr>
                      <a:r>
                        <a:rPr lang="ru-RU" sz="1000">
                          <a:effectLst/>
                        </a:rPr>
                        <a:t>Цена</a:t>
                      </a:r>
                      <a:endParaRPr lang="ru-RU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995" marR="6995" marT="0" marB="0"/>
                </a:tc>
                <a:extLst>
                  <a:ext uri="{0D108BD9-81ED-4DB2-BD59-A6C34878D82A}">
                    <a16:rowId xmlns:a16="http://schemas.microsoft.com/office/drawing/2014/main" val="3228224939"/>
                  </a:ext>
                </a:extLst>
              </a:tr>
              <a:tr h="1729980">
                <a:tc>
                  <a:txBody>
                    <a:bodyPr/>
                    <a:lstStyle/>
                    <a:p>
                      <a:pPr marL="457200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en-US" sz="1000">
                          <a:effectLst/>
                        </a:rPr>
                        <a:t>Jira</a:t>
                      </a:r>
                      <a:endParaRPr lang="ru-RU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995" marR="6995" marT="0" marB="0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en-US" sz="1200" dirty="0">
                          <a:effectLst/>
                        </a:rPr>
                        <a:t>Scrum</a:t>
                      </a:r>
                      <a:r>
                        <a:rPr lang="ru-RU" sz="1200" dirty="0">
                          <a:effectLst/>
                        </a:rPr>
                        <a:t>/</a:t>
                      </a:r>
                      <a:r>
                        <a:rPr lang="en-US" sz="1200" dirty="0">
                          <a:effectLst/>
                        </a:rPr>
                        <a:t>Kanban </a:t>
                      </a:r>
                      <a:r>
                        <a:rPr lang="ru-RU" sz="1200" dirty="0">
                          <a:effectLst/>
                        </a:rPr>
                        <a:t>доски, отчеты, </a:t>
                      </a:r>
                      <a:r>
                        <a:rPr lang="ru-RU" sz="1400" dirty="0">
                          <a:effectLst/>
                        </a:rPr>
                        <a:t>интегр</a:t>
                      </a:r>
                      <a:r>
                        <a:rPr lang="ru-RU" sz="1200" dirty="0">
                          <a:effectLst/>
                        </a:rPr>
                        <a:t>а</a:t>
                      </a:r>
                      <a:r>
                        <a:rPr lang="ru-RU" sz="1400" dirty="0">
                          <a:effectLst/>
                        </a:rPr>
                        <a:t>ции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995" marR="6995" marT="0" marB="0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000" dirty="0">
                          <a:effectLst/>
                        </a:rPr>
                        <a:t>Поддержка спринтов и аналитики </a:t>
                      </a:r>
                      <a:endParaRPr lang="ru-RU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995" marR="6995" marT="0" marB="0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000">
                          <a:effectLst/>
                        </a:rPr>
                        <a:t>Сложный;</a:t>
                      </a:r>
                    </a:p>
                    <a:p>
                      <a:pPr marL="457200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000">
                          <a:effectLst/>
                        </a:rPr>
                        <a:t>дорогой</a:t>
                      </a:r>
                      <a:endParaRPr lang="ru-RU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995" marR="6995" marT="0" marB="0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000">
                          <a:effectLst/>
                        </a:rPr>
                        <a:t>Бесплатно для 10 пользователей; </a:t>
                      </a:r>
                      <a:r>
                        <a:rPr lang="en-US" sz="1000">
                          <a:effectLst/>
                        </a:rPr>
                        <a:t>Standard</a:t>
                      </a:r>
                      <a:r>
                        <a:rPr lang="ru-RU" sz="1000">
                          <a:effectLst/>
                        </a:rPr>
                        <a:t> $7.91</a:t>
                      </a:r>
                    </a:p>
                    <a:p>
                      <a:pPr marL="457200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000">
                          <a:effectLst/>
                        </a:rPr>
                        <a:t>за пользователя в месяц; </a:t>
                      </a:r>
                      <a:r>
                        <a:rPr lang="en-US" sz="1000">
                          <a:effectLst/>
                        </a:rPr>
                        <a:t>Premium</a:t>
                      </a:r>
                      <a:r>
                        <a:rPr lang="ru-RU" sz="1000">
                          <a:effectLst/>
                        </a:rPr>
                        <a:t> $14.54</a:t>
                      </a:r>
                    </a:p>
                    <a:p>
                      <a:pPr marL="457200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800"/>
                        </a:spcAft>
                      </a:pPr>
                      <a:r>
                        <a:rPr lang="ru-RU" sz="1000">
                          <a:effectLst/>
                        </a:rPr>
                        <a:t>за пользователя в месяц</a:t>
                      </a:r>
                      <a:endParaRPr lang="ru-RU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995" marR="6995" marT="0" marB="0"/>
                </a:tc>
                <a:extLst>
                  <a:ext uri="{0D108BD9-81ED-4DB2-BD59-A6C34878D82A}">
                    <a16:rowId xmlns:a16="http://schemas.microsoft.com/office/drawing/2014/main" val="981662678"/>
                  </a:ext>
                </a:extLst>
              </a:tr>
              <a:tr h="1498933">
                <a:tc>
                  <a:txBody>
                    <a:bodyPr/>
                    <a:lstStyle/>
                    <a:p>
                      <a:pPr marL="457200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en-US" sz="1000">
                          <a:effectLst/>
                        </a:rPr>
                        <a:t>Trello</a:t>
                      </a:r>
                      <a:endParaRPr lang="ru-RU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995" marR="6995" marT="0" marB="0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000">
                          <a:effectLst/>
                        </a:rPr>
                        <a:t>Простые </a:t>
                      </a:r>
                      <a:r>
                        <a:rPr lang="en-US" sz="1000">
                          <a:effectLst/>
                        </a:rPr>
                        <a:t>Kanban-</a:t>
                      </a:r>
                      <a:r>
                        <a:rPr lang="ru-RU" sz="1000">
                          <a:effectLst/>
                        </a:rPr>
                        <a:t>доски, карточки</a:t>
                      </a:r>
                      <a:endParaRPr lang="ru-RU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995" marR="6995" marT="0" marB="0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000" dirty="0">
                          <a:effectLst/>
                        </a:rPr>
                        <a:t>Интуитивный для быстрого управления</a:t>
                      </a:r>
                      <a:endParaRPr lang="ru-RU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995" marR="6995" marT="0" marB="0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000" dirty="0">
                          <a:effectLst/>
                        </a:rPr>
                        <a:t>Ограниченная поддержка </a:t>
                      </a:r>
                      <a:r>
                        <a:rPr lang="ru-RU" sz="1000" dirty="0" err="1">
                          <a:effectLst/>
                        </a:rPr>
                        <a:t>Scrum</a:t>
                      </a:r>
                      <a:r>
                        <a:rPr lang="ru-RU" sz="1000" dirty="0">
                          <a:effectLst/>
                        </a:rPr>
                        <a:t>.</a:t>
                      </a:r>
                      <a:endParaRPr lang="ru-RU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995" marR="6995" marT="0" marB="0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000" dirty="0">
                          <a:effectLst/>
                        </a:rPr>
                        <a:t>Бесплатно для 10 пользователей; </a:t>
                      </a:r>
                      <a:r>
                        <a:rPr lang="en-US" sz="1000" dirty="0">
                          <a:effectLst/>
                        </a:rPr>
                        <a:t>Standard</a:t>
                      </a:r>
                      <a:r>
                        <a:rPr lang="ru-RU" sz="1000" dirty="0">
                          <a:effectLst/>
                        </a:rPr>
                        <a:t> $5</a:t>
                      </a:r>
                    </a:p>
                    <a:p>
                      <a:pPr marL="457200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000" dirty="0">
                          <a:effectLst/>
                        </a:rPr>
                        <a:t>за пользователя в месяц; </a:t>
                      </a:r>
                      <a:r>
                        <a:rPr lang="en-US" sz="1000" dirty="0">
                          <a:effectLst/>
                        </a:rPr>
                        <a:t>Premium</a:t>
                      </a:r>
                      <a:r>
                        <a:rPr lang="ru-RU" sz="1000" dirty="0">
                          <a:effectLst/>
                        </a:rPr>
                        <a:t> $10</a:t>
                      </a:r>
                    </a:p>
                    <a:p>
                      <a:pPr marL="457200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800"/>
                        </a:spcAft>
                      </a:pPr>
                      <a:r>
                        <a:rPr lang="ru-RU" sz="1000" dirty="0">
                          <a:effectLst/>
                        </a:rPr>
                        <a:t>за пользователя в месяц</a:t>
                      </a:r>
                      <a:endParaRPr lang="ru-RU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995" marR="6995" marT="0" marB="0"/>
                </a:tc>
                <a:extLst>
                  <a:ext uri="{0D108BD9-81ED-4DB2-BD59-A6C34878D82A}">
                    <a16:rowId xmlns:a16="http://schemas.microsoft.com/office/drawing/2014/main" val="256368411"/>
                  </a:ext>
                </a:extLst>
              </a:tr>
              <a:tr h="1727512">
                <a:tc>
                  <a:txBody>
                    <a:bodyPr/>
                    <a:lstStyle/>
                    <a:p>
                      <a:pPr marL="457200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en-US" sz="1000">
                          <a:effectLst/>
                        </a:rPr>
                        <a:t>Asana</a:t>
                      </a:r>
                      <a:endParaRPr lang="ru-RU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995" marR="6995" marT="0" marB="0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000">
                          <a:effectLst/>
                        </a:rPr>
                        <a:t>Простые </a:t>
                      </a:r>
                      <a:r>
                        <a:rPr lang="en-US" sz="1000">
                          <a:effectLst/>
                        </a:rPr>
                        <a:t>Kanban</a:t>
                      </a:r>
                      <a:r>
                        <a:rPr lang="ru-RU" sz="1000">
                          <a:effectLst/>
                        </a:rPr>
                        <a:t>-доски, карточки</a:t>
                      </a:r>
                      <a:endParaRPr lang="ru-RU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995" marR="6995" marT="0" marB="0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000">
                          <a:effectLst/>
                        </a:rPr>
                        <a:t>Гибкое планирование и интеграции</a:t>
                      </a:r>
                      <a:endParaRPr lang="ru-RU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995" marR="6995" marT="0" marB="0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000" dirty="0">
                          <a:effectLst/>
                        </a:rPr>
                        <a:t>Перегруженный интерфейс</a:t>
                      </a:r>
                      <a:endParaRPr lang="ru-RU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995" marR="6995" marT="0" marB="0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000" dirty="0">
                          <a:effectLst/>
                        </a:rPr>
                        <a:t>Бесплатно до 10 пользователей; </a:t>
                      </a:r>
                      <a:r>
                        <a:rPr lang="en-US" sz="1000" dirty="0">
                          <a:effectLst/>
                        </a:rPr>
                        <a:t>Starter</a:t>
                      </a:r>
                      <a:r>
                        <a:rPr lang="ru-RU" sz="1000" dirty="0">
                          <a:effectLst/>
                        </a:rPr>
                        <a:t> $10.99</a:t>
                      </a:r>
                    </a:p>
                    <a:p>
                      <a:pPr marL="457200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000" dirty="0">
                          <a:effectLst/>
                        </a:rPr>
                        <a:t>за пользователя в месяц; </a:t>
                      </a:r>
                      <a:r>
                        <a:rPr lang="en-US" sz="1000" dirty="0">
                          <a:effectLst/>
                        </a:rPr>
                        <a:t>Advanced</a:t>
                      </a:r>
                      <a:r>
                        <a:rPr lang="ru-RU" sz="1000" dirty="0">
                          <a:effectLst/>
                        </a:rPr>
                        <a:t> $24.99</a:t>
                      </a:r>
                    </a:p>
                    <a:p>
                      <a:pPr marL="457200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800"/>
                        </a:spcAft>
                      </a:pPr>
                      <a:r>
                        <a:rPr lang="ru-RU" sz="1000" dirty="0">
                          <a:effectLst/>
                        </a:rPr>
                        <a:t>за пользователя в месяц</a:t>
                      </a:r>
                      <a:endParaRPr lang="ru-RU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995" marR="6995" marT="0" marB="0"/>
                </a:tc>
                <a:extLst>
                  <a:ext uri="{0D108BD9-81ED-4DB2-BD59-A6C34878D82A}">
                    <a16:rowId xmlns:a16="http://schemas.microsoft.com/office/drawing/2014/main" val="1276717189"/>
                  </a:ext>
                </a:extLst>
              </a:tr>
              <a:tr h="1460838">
                <a:tc>
                  <a:txBody>
                    <a:bodyPr/>
                    <a:lstStyle/>
                    <a:p>
                      <a:pPr marL="457200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en-US" sz="1000">
                          <a:effectLst/>
                        </a:rPr>
                        <a:t>ClickUp</a:t>
                      </a:r>
                      <a:endParaRPr lang="ru-RU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995" marR="6995" marT="0" marB="0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000">
                          <a:effectLst/>
                        </a:rPr>
                        <a:t>Задачи, </a:t>
                      </a:r>
                      <a:r>
                        <a:rPr lang="en-US" sz="1000">
                          <a:effectLst/>
                        </a:rPr>
                        <a:t>timelines</a:t>
                      </a:r>
                      <a:r>
                        <a:rPr lang="ru-RU" sz="1000">
                          <a:effectLst/>
                        </a:rPr>
                        <a:t>, доски</a:t>
                      </a:r>
                      <a:endParaRPr lang="ru-RU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995" marR="6995" marT="0" marB="0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000">
                          <a:effectLst/>
                        </a:rPr>
                        <a:t>Кастомизация для всех </a:t>
                      </a:r>
                      <a:r>
                        <a:rPr lang="en-US" sz="1000">
                          <a:effectLst/>
                        </a:rPr>
                        <a:t>Agile</a:t>
                      </a:r>
                      <a:r>
                        <a:rPr lang="ru-RU" sz="1000">
                          <a:effectLst/>
                        </a:rPr>
                        <a:t>-методов</a:t>
                      </a:r>
                      <a:endParaRPr lang="ru-RU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995" marR="6995" marT="0" marB="0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000">
                          <a:effectLst/>
                        </a:rPr>
                        <a:t>Сложный из-за опций</a:t>
                      </a:r>
                      <a:endParaRPr lang="ru-RU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995" marR="6995" marT="0" marB="0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en-US" sz="1000" dirty="0">
                          <a:effectLst/>
                        </a:rPr>
                        <a:t>Slack </a:t>
                      </a:r>
                      <a:r>
                        <a:rPr lang="ru-RU" sz="1000" dirty="0">
                          <a:effectLst/>
                        </a:rPr>
                        <a:t>$9</a:t>
                      </a:r>
                    </a:p>
                    <a:p>
                      <a:pPr marL="457200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000" dirty="0">
                          <a:effectLst/>
                        </a:rPr>
                        <a:t>за пользователя в месяц;</a:t>
                      </a:r>
                    </a:p>
                    <a:p>
                      <a:pPr marL="457200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en-US" sz="1000" dirty="0">
                          <a:effectLst/>
                        </a:rPr>
                        <a:t>Teams </a:t>
                      </a:r>
                      <a:r>
                        <a:rPr lang="ru-RU" sz="1000" dirty="0">
                          <a:effectLst/>
                        </a:rPr>
                        <a:t>$8</a:t>
                      </a:r>
                    </a:p>
                    <a:p>
                      <a:pPr marL="457200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800"/>
                        </a:spcAft>
                      </a:pPr>
                      <a:r>
                        <a:rPr lang="ru-RU" sz="1000" dirty="0">
                          <a:effectLst/>
                        </a:rPr>
                        <a:t>за пользователя в месяц;</a:t>
                      </a:r>
                      <a:endParaRPr lang="ru-RU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995" marR="6995" marT="0" marB="0"/>
                </a:tc>
                <a:extLst>
                  <a:ext uri="{0D108BD9-81ED-4DB2-BD59-A6C34878D82A}">
                    <a16:rowId xmlns:a16="http://schemas.microsoft.com/office/drawing/2014/main" val="4139488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08796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32731C-311B-46F7-A865-6C3AF6B09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07383" y="757069"/>
            <a:ext cx="4264095" cy="365125"/>
          </a:xfrm>
        </p:spPr>
        <p:txBody>
          <a:bodyPr rtlCol="0">
            <a:normAutofit fontScale="90000"/>
          </a:bodyPr>
          <a:lstStyle>
            <a:defPPr>
              <a:defRPr lang="ru-RU"/>
            </a:defPPr>
          </a:lstStyle>
          <a:p>
            <a:pPr rtl="0"/>
            <a:r>
              <a:rPr lang="ru-RU" dirty="0"/>
              <a:t>Вовлечение слушателей</a:t>
            </a:r>
          </a:p>
        </p:txBody>
      </p:sp>
      <p:sp>
        <p:nvSpPr>
          <p:cNvPr id="14" name="Номер слайда 5">
            <a:extLst>
              <a:ext uri="{FF2B5EF4-FFF2-40B4-BE49-F238E27FC236}">
                <a16:creationId xmlns:a16="http://schemas.microsoft.com/office/drawing/2014/main" id="{ECE635A2-70B8-3EAB-6A18-952B02EBA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A49DFD55-3C28-40EF-9E31-A92D2E4017FF}" type="slidenum">
              <a:rPr lang="ru-RU" smtClean="0"/>
              <a:pPr rtl="0"/>
              <a:t>3</a:t>
            </a:fld>
            <a:endParaRPr lang="ru-RU" dirty="0"/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5A3F4BD9-2E83-4EBE-B2FF-BC9497185C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0782663"/>
              </p:ext>
            </p:extLst>
          </p:nvPr>
        </p:nvGraphicFramePr>
        <p:xfrm>
          <a:off x="0" y="0"/>
          <a:ext cx="7107383" cy="686262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82242">
                  <a:extLst>
                    <a:ext uri="{9D8B030D-6E8A-4147-A177-3AD203B41FA5}">
                      <a16:colId xmlns:a16="http://schemas.microsoft.com/office/drawing/2014/main" val="1997201508"/>
                    </a:ext>
                  </a:extLst>
                </a:gridCol>
                <a:gridCol w="3357231">
                  <a:extLst>
                    <a:ext uri="{9D8B030D-6E8A-4147-A177-3AD203B41FA5}">
                      <a16:colId xmlns:a16="http://schemas.microsoft.com/office/drawing/2014/main" val="2284330375"/>
                    </a:ext>
                  </a:extLst>
                </a:gridCol>
                <a:gridCol w="2567910">
                  <a:extLst>
                    <a:ext uri="{9D8B030D-6E8A-4147-A177-3AD203B41FA5}">
                      <a16:colId xmlns:a16="http://schemas.microsoft.com/office/drawing/2014/main" val="3029387419"/>
                    </a:ext>
                  </a:extLst>
                </a:gridCol>
              </a:tblGrid>
              <a:tr h="470992">
                <a:tc>
                  <a:txBody>
                    <a:bodyPr/>
                    <a:lstStyle/>
                    <a:p>
                      <a:pPr marL="457200" algn="l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100" dirty="0">
                          <a:effectLst/>
                        </a:rPr>
                        <a:t>Инструмент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721" marR="28721" marT="0" marB="0"/>
                </a:tc>
                <a:tc>
                  <a:txBody>
                    <a:bodyPr/>
                    <a:lstStyle/>
                    <a:p>
                      <a:pPr marL="457200" algn="l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100" dirty="0">
                          <a:effectLst/>
                        </a:rPr>
                        <a:t>Поддержка </a:t>
                      </a:r>
                      <a:r>
                        <a:rPr lang="en-US" sz="1100" dirty="0">
                          <a:effectLst/>
                        </a:rPr>
                        <a:t>Scrum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721" marR="28721" marT="0" marB="0"/>
                </a:tc>
                <a:tc>
                  <a:txBody>
                    <a:bodyPr/>
                    <a:lstStyle/>
                    <a:p>
                      <a:pPr marL="457200" algn="l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800"/>
                        </a:spcAft>
                      </a:pPr>
                      <a:r>
                        <a:rPr lang="ru-RU" sz="1100" dirty="0">
                          <a:effectLst/>
                        </a:rPr>
                        <a:t>Поддержка </a:t>
                      </a:r>
                      <a:r>
                        <a:rPr lang="en-US" sz="1100" dirty="0">
                          <a:effectLst/>
                        </a:rPr>
                        <a:t>Kanban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721" marR="28721" marT="0" marB="0"/>
                </a:tc>
                <a:extLst>
                  <a:ext uri="{0D108BD9-81ED-4DB2-BD59-A6C34878D82A}">
                    <a16:rowId xmlns:a16="http://schemas.microsoft.com/office/drawing/2014/main" val="12771027"/>
                  </a:ext>
                </a:extLst>
              </a:tr>
              <a:tr h="1231150">
                <a:tc>
                  <a:txBody>
                    <a:bodyPr/>
                    <a:lstStyle/>
                    <a:p>
                      <a:pPr marL="457200" algn="l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en-US" sz="1100">
                          <a:effectLst/>
                        </a:rPr>
                        <a:t>Jira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721" marR="28721" marT="0" marB="0"/>
                </a:tc>
                <a:tc>
                  <a:txBody>
                    <a:bodyPr/>
                    <a:lstStyle/>
                    <a:p>
                      <a:pPr marL="457200" algn="l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100" dirty="0">
                          <a:effectLst/>
                        </a:rPr>
                        <a:t>Полная поддержка: </a:t>
                      </a:r>
                      <a:r>
                        <a:rPr lang="ru-RU" sz="1100" dirty="0" err="1">
                          <a:effectLst/>
                        </a:rPr>
                        <a:t>бэклоги</a:t>
                      </a:r>
                      <a:r>
                        <a:rPr lang="ru-RU" sz="1100" dirty="0">
                          <a:effectLst/>
                        </a:rPr>
                        <a:t>, спринты, ретроспективы, ролевые доски (</a:t>
                      </a:r>
                      <a:r>
                        <a:rPr lang="en-US" sz="1100" dirty="0">
                          <a:effectLst/>
                        </a:rPr>
                        <a:t>Scrum Board</a:t>
                      </a:r>
                      <a:r>
                        <a:rPr lang="ru-RU" sz="1100" dirty="0">
                          <a:effectLst/>
                        </a:rPr>
                        <a:t>), отчеты по скорости и </a:t>
                      </a:r>
                      <a:r>
                        <a:rPr lang="en-US" sz="1100" dirty="0">
                          <a:effectLst/>
                        </a:rPr>
                        <a:t>burndown</a:t>
                      </a:r>
                      <a:r>
                        <a:rPr lang="ru-RU" sz="1100" dirty="0">
                          <a:effectLst/>
                        </a:rPr>
                        <a:t>-чарты. Идеально для команд с церемониями и планированием.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721" marR="28721" marT="0" marB="0"/>
                </a:tc>
                <a:tc>
                  <a:txBody>
                    <a:bodyPr/>
                    <a:lstStyle/>
                    <a:p>
                      <a:pPr marL="457200" algn="l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800"/>
                        </a:spcAft>
                      </a:pPr>
                      <a:r>
                        <a:rPr lang="ru-RU" sz="1100" dirty="0">
                          <a:effectLst/>
                        </a:rPr>
                        <a:t>Мощные K</a:t>
                      </a:r>
                      <a:r>
                        <a:rPr lang="en-US" sz="1100" dirty="0" err="1">
                          <a:effectLst/>
                        </a:rPr>
                        <a:t>anban</a:t>
                      </a:r>
                      <a:r>
                        <a:rPr lang="ru-RU" sz="1100" dirty="0">
                          <a:effectLst/>
                        </a:rPr>
                        <a:t>-доски с колонками, </a:t>
                      </a:r>
                      <a:r>
                        <a:rPr lang="en-US" sz="1100" dirty="0">
                          <a:effectLst/>
                        </a:rPr>
                        <a:t>WIP</a:t>
                      </a:r>
                      <a:r>
                        <a:rPr lang="ru-RU" sz="1100" dirty="0">
                          <a:effectLst/>
                        </a:rPr>
                        <a:t> лимитами, фильтрами и автоматизацией.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721" marR="28721" marT="0" marB="0"/>
                </a:tc>
                <a:extLst>
                  <a:ext uri="{0D108BD9-81ED-4DB2-BD59-A6C34878D82A}">
                    <a16:rowId xmlns:a16="http://schemas.microsoft.com/office/drawing/2014/main" val="3869667189"/>
                  </a:ext>
                </a:extLst>
              </a:tr>
              <a:tr h="1648981">
                <a:tc>
                  <a:txBody>
                    <a:bodyPr/>
                    <a:lstStyle/>
                    <a:p>
                      <a:pPr marL="457200" algn="l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en-US" sz="1100">
                          <a:effectLst/>
                        </a:rPr>
                        <a:t>Trello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721" marR="28721" marT="0" marB="0"/>
                </a:tc>
                <a:tc>
                  <a:txBody>
                    <a:bodyPr/>
                    <a:lstStyle/>
                    <a:p>
                      <a:pPr marL="457200" algn="l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100" dirty="0">
                          <a:effectLst/>
                        </a:rPr>
                        <a:t>Базовая поддержка через Power-</a:t>
                      </a:r>
                      <a:r>
                        <a:rPr lang="ru-RU" sz="1100" dirty="0" err="1">
                          <a:effectLst/>
                        </a:rPr>
                        <a:t>Ups</a:t>
                      </a:r>
                      <a:r>
                        <a:rPr lang="ru-RU" sz="1100" dirty="0">
                          <a:effectLst/>
                        </a:rPr>
                        <a:t> (расширения): можно имитировать спринты с карточками и списками, но без встроенных </a:t>
                      </a:r>
                      <a:r>
                        <a:rPr lang="ru-RU" sz="1100" dirty="0" err="1">
                          <a:effectLst/>
                        </a:rPr>
                        <a:t>ретроспектив</a:t>
                      </a:r>
                      <a:r>
                        <a:rPr lang="ru-RU" sz="1100" dirty="0">
                          <a:effectLst/>
                        </a:rPr>
                        <a:t> или отчетов. Не оптимально для строгого </a:t>
                      </a:r>
                      <a:r>
                        <a:rPr lang="ru-RU" sz="1100" dirty="0" err="1">
                          <a:effectLst/>
                        </a:rPr>
                        <a:t>Scrum</a:t>
                      </a:r>
                      <a:r>
                        <a:rPr lang="ru-RU" sz="1100" dirty="0">
                          <a:effectLst/>
                        </a:rPr>
                        <a:t>.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721" marR="28721" marT="0" marB="0"/>
                </a:tc>
                <a:tc>
                  <a:txBody>
                    <a:bodyPr/>
                    <a:lstStyle/>
                    <a:p>
                      <a:pPr marL="457200" algn="l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800"/>
                        </a:spcAft>
                      </a:pPr>
                      <a:r>
                        <a:rPr lang="ru-RU" sz="1100" dirty="0">
                          <a:effectLst/>
                        </a:rPr>
                        <a:t>Отличная поддержка: простые доски с карточками, списками и лимитами; интуитивный </a:t>
                      </a:r>
                      <a:r>
                        <a:rPr lang="en-US" sz="1100" dirty="0">
                          <a:effectLst/>
                        </a:rPr>
                        <a:t>drag</a:t>
                      </a:r>
                      <a:r>
                        <a:rPr lang="ru-RU" sz="1100" dirty="0">
                          <a:effectLst/>
                        </a:rPr>
                        <a:t>-</a:t>
                      </a:r>
                      <a:r>
                        <a:rPr lang="en-US" sz="1100" dirty="0">
                          <a:effectLst/>
                        </a:rPr>
                        <a:t>and</a:t>
                      </a:r>
                      <a:r>
                        <a:rPr lang="ru-RU" sz="1100" dirty="0">
                          <a:effectLst/>
                        </a:rPr>
                        <a:t>-</a:t>
                      </a:r>
                      <a:r>
                        <a:rPr lang="en-US" sz="1100" dirty="0">
                          <a:effectLst/>
                        </a:rPr>
                        <a:t>drop </a:t>
                      </a:r>
                      <a:r>
                        <a:rPr lang="ru-RU" sz="1100" dirty="0">
                          <a:effectLst/>
                        </a:rPr>
                        <a:t>для визуального управления потоком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721" marR="28721" marT="0" marB="0"/>
                </a:tc>
                <a:extLst>
                  <a:ext uri="{0D108BD9-81ED-4DB2-BD59-A6C34878D82A}">
                    <a16:rowId xmlns:a16="http://schemas.microsoft.com/office/drawing/2014/main" val="2047046588"/>
                  </a:ext>
                </a:extLst>
              </a:tr>
              <a:tr h="1857897">
                <a:tc>
                  <a:txBody>
                    <a:bodyPr/>
                    <a:lstStyle/>
                    <a:p>
                      <a:pPr marL="457200" algn="l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en-US" sz="1100">
                          <a:effectLst/>
                        </a:rPr>
                        <a:t>Asana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721" marR="28721" marT="0" marB="0"/>
                </a:tc>
                <a:tc>
                  <a:txBody>
                    <a:bodyPr/>
                    <a:lstStyle/>
                    <a:p>
                      <a:pPr marL="457200" algn="l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100">
                          <a:effectLst/>
                        </a:rPr>
                        <a:t>Поддержка через кастомные поля и проекты: можно настроить спринты, бэклоги и timelines, но нет</a:t>
                      </a:r>
                    </a:p>
                    <a:p>
                      <a:pPr marL="457200" algn="l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100">
                          <a:effectLst/>
                        </a:rPr>
                        <a:t>встроенных Scrum-шаблонов или ретроспектив. Хорошо для гибкого планирования.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721" marR="28721" marT="0" marB="0"/>
                </a:tc>
                <a:tc>
                  <a:txBody>
                    <a:bodyPr/>
                    <a:lstStyle/>
                    <a:p>
                      <a:pPr marL="457200" algn="l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800"/>
                        </a:spcAft>
                      </a:pPr>
                      <a:r>
                        <a:rPr lang="ru-RU" sz="1100" dirty="0">
                          <a:effectLst/>
                        </a:rPr>
                        <a:t>Визуальные доски с колонками, зависимостями и фильтрами; подходит для </a:t>
                      </a:r>
                      <a:r>
                        <a:rPr lang="en-US" sz="1100" dirty="0">
                          <a:effectLst/>
                        </a:rPr>
                        <a:t>Kanban </a:t>
                      </a:r>
                      <a:r>
                        <a:rPr lang="ru-RU" sz="1100" dirty="0">
                          <a:effectLst/>
                        </a:rPr>
                        <a:t>с лимитами задач, но менее специализировано на потоке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721" marR="28721" marT="0" marB="0"/>
                </a:tc>
                <a:extLst>
                  <a:ext uri="{0D108BD9-81ED-4DB2-BD59-A6C34878D82A}">
                    <a16:rowId xmlns:a16="http://schemas.microsoft.com/office/drawing/2014/main" val="1299979497"/>
                  </a:ext>
                </a:extLst>
              </a:tr>
              <a:tr h="1648981">
                <a:tc>
                  <a:txBody>
                    <a:bodyPr/>
                    <a:lstStyle/>
                    <a:p>
                      <a:pPr marL="457200" algn="l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en-US" sz="1100">
                          <a:effectLst/>
                        </a:rPr>
                        <a:t>ClickUp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721" marR="28721" marT="0" marB="0"/>
                </a:tc>
                <a:tc>
                  <a:txBody>
                    <a:bodyPr/>
                    <a:lstStyle/>
                    <a:p>
                      <a:pPr marL="457200" algn="l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100">
                          <a:effectLst/>
                        </a:rPr>
                        <a:t>Полная кастомизация: спринты, бэклоги, ретроспективы, ролевые</a:t>
                      </a:r>
                    </a:p>
                    <a:p>
                      <a:pPr marL="457200" algn="l">
                        <a:lnSpc>
                          <a:spcPct val="150000"/>
                        </a:lnSpc>
                        <a:spcBef>
                          <a:spcPts val="1200"/>
                        </a:spcBef>
                      </a:pPr>
                      <a:r>
                        <a:rPr lang="ru-RU" sz="1100">
                          <a:effectLst/>
                        </a:rPr>
                        <a:t>доски и автоматизация. Поддерживает все Scrum-церемонии с отчетами и интеграциями.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721" marR="28721" marT="0" marB="0"/>
                </a:tc>
                <a:tc>
                  <a:txBody>
                    <a:bodyPr/>
                    <a:lstStyle/>
                    <a:p>
                      <a:pPr marL="457200" algn="l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800"/>
                        </a:spcAft>
                      </a:pPr>
                      <a:r>
                        <a:rPr lang="ru-RU" sz="1100" dirty="0">
                          <a:effectLst/>
                        </a:rPr>
                        <a:t>Гибкие доски с потоками, </a:t>
                      </a:r>
                      <a:r>
                        <a:rPr lang="en-US" sz="1100" dirty="0">
                          <a:effectLst/>
                        </a:rPr>
                        <a:t>WIP </a:t>
                      </a:r>
                      <a:r>
                        <a:rPr lang="ru-RU" sz="1100" dirty="0">
                          <a:effectLst/>
                        </a:rPr>
                        <a:t>лимитами, автоматизацией и визуализаций; идеально для </a:t>
                      </a:r>
                      <a:r>
                        <a:rPr lang="en-US" sz="1100" dirty="0">
                          <a:effectLst/>
                        </a:rPr>
                        <a:t>Kanban </a:t>
                      </a:r>
                      <a:r>
                        <a:rPr lang="ru-RU" sz="1100" dirty="0">
                          <a:effectLst/>
                        </a:rPr>
                        <a:t>с настраиваемыми </a:t>
                      </a:r>
                      <a:r>
                        <a:rPr lang="en-US" sz="1100" dirty="0">
                          <a:effectLst/>
                        </a:rPr>
                        <a:t>workflow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721" marR="28721" marT="0" marB="0"/>
                </a:tc>
                <a:extLst>
                  <a:ext uri="{0D108BD9-81ED-4DB2-BD59-A6C34878D82A}">
                    <a16:rowId xmlns:a16="http://schemas.microsoft.com/office/drawing/2014/main" val="3104112541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093420D3-0CE5-46F0-919F-BB42B488C46D}"/>
              </a:ext>
            </a:extLst>
          </p:cNvPr>
          <p:cNvSpPr txBox="1"/>
          <p:nvPr/>
        </p:nvSpPr>
        <p:spPr>
          <a:xfrm>
            <a:off x="7107384" y="1525978"/>
            <a:ext cx="4264094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J</a:t>
            </a:r>
            <a:r>
              <a:rPr lang="ru-RU" sz="1600" dirty="0" err="1"/>
              <a:t>ira</a:t>
            </a:r>
            <a:r>
              <a:rPr lang="ru-RU" sz="1600" dirty="0"/>
              <a:t> — лидер в поддержке </a:t>
            </a:r>
            <a:r>
              <a:rPr lang="ru-RU" sz="1600" dirty="0" err="1"/>
              <a:t>Agile</a:t>
            </a:r>
            <a:r>
              <a:rPr lang="ru-RU" sz="1600" dirty="0"/>
              <a:t>, предоставляющий полноценные встроенные возможности как для </a:t>
            </a:r>
            <a:r>
              <a:rPr lang="ru-RU" sz="1600" dirty="0" err="1"/>
              <a:t>Scrum</a:t>
            </a:r>
            <a:r>
              <a:rPr lang="ru-RU" sz="1600" dirty="0"/>
              <a:t>, так и для </a:t>
            </a:r>
            <a:r>
              <a:rPr lang="ru-RU" sz="1600" dirty="0" err="1"/>
              <a:t>Kanban</a:t>
            </a:r>
            <a:endParaRPr lang="en-US" sz="1600" dirty="0"/>
          </a:p>
          <a:p>
            <a:endParaRPr lang="ru-RU" sz="1600" dirty="0"/>
          </a:p>
          <a:p>
            <a:r>
              <a:rPr lang="ru-RU" sz="1600" dirty="0" err="1"/>
              <a:t>Trello</a:t>
            </a:r>
            <a:r>
              <a:rPr lang="ru-RU" sz="1600" dirty="0"/>
              <a:t> — отлично подходит для визуального </a:t>
            </a:r>
            <a:r>
              <a:rPr lang="ru-RU" sz="1600" dirty="0" err="1"/>
              <a:t>Kanban</a:t>
            </a:r>
            <a:r>
              <a:rPr lang="ru-RU" sz="1600" dirty="0"/>
              <a:t>, но для серьёзной работы по </a:t>
            </a:r>
            <a:r>
              <a:rPr lang="ru-RU" sz="1600" dirty="0" err="1"/>
              <a:t>Scrum</a:t>
            </a:r>
            <a:r>
              <a:rPr lang="ru-RU" sz="1600" dirty="0"/>
              <a:t> требует подключения дополнительных модулей и не включает готовой отчётности.</a:t>
            </a:r>
            <a:endParaRPr lang="en-US" sz="1600" dirty="0"/>
          </a:p>
          <a:p>
            <a:endParaRPr lang="ru-RU" sz="1600" dirty="0"/>
          </a:p>
          <a:p>
            <a:r>
              <a:rPr lang="ru-RU" sz="1600" dirty="0" err="1"/>
              <a:t>Asana</a:t>
            </a:r>
            <a:r>
              <a:rPr lang="ru-RU" sz="1600" dirty="0"/>
              <a:t> — предлагает гибкие инструменты для адаптации </a:t>
            </a:r>
            <a:r>
              <a:rPr lang="ru-RU" sz="1600" dirty="0" err="1"/>
              <a:t>Scrum</a:t>
            </a:r>
            <a:r>
              <a:rPr lang="ru-RU" sz="1600" dirty="0"/>
              <a:t> и удобные доски для </a:t>
            </a:r>
            <a:r>
              <a:rPr lang="ru-RU" sz="1600" dirty="0" err="1"/>
              <a:t>Kanban</a:t>
            </a:r>
            <a:r>
              <a:rPr lang="ru-RU" sz="1600" dirty="0"/>
              <a:t>, ориентируясь на универсальность, а не на глубокую специализацию.</a:t>
            </a:r>
          </a:p>
          <a:p>
            <a:endParaRPr lang="ru-RU" sz="1600" dirty="0"/>
          </a:p>
          <a:p>
            <a:r>
              <a:rPr lang="ru-RU" sz="1600" dirty="0" err="1"/>
              <a:t>ClickUp</a:t>
            </a:r>
            <a:r>
              <a:rPr lang="ru-RU" sz="1600" dirty="0"/>
              <a:t> — позволяет детально настроить рабочие процессы под обе методологии, сочетая возможности для планирования в </a:t>
            </a:r>
            <a:r>
              <a:rPr lang="ru-RU" sz="1600" dirty="0" err="1"/>
              <a:t>Scrum</a:t>
            </a:r>
            <a:r>
              <a:rPr lang="ru-RU" sz="1600" dirty="0"/>
              <a:t> и управления потоком в </a:t>
            </a:r>
            <a:r>
              <a:rPr lang="ru-RU" sz="1600" dirty="0" err="1"/>
              <a:t>Kanban</a:t>
            </a:r>
            <a:r>
              <a:rPr lang="ru-RU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715163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DF1EDE-5423-435C-B149-87AB1BC22B8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/>
              <a:t>СПАСИБО</a:t>
            </a:r>
          </a:p>
        </p:txBody>
      </p:sp>
    </p:spTree>
    <p:extLst>
      <p:ext uri="{BB962C8B-B14F-4D97-AF65-F5344CB8AC3E}">
        <p14:creationId xmlns:p14="http://schemas.microsoft.com/office/powerpoint/2010/main" val="1969787568"/>
      </p:ext>
    </p:extLst>
  </p:cSld>
  <p:clrMapOvr>
    <a:masterClrMapping/>
  </p:clrMapOvr>
</p:sld>
</file>

<file path=ppt/theme/theme1.xml><?xml version="1.0" encoding="utf-8"?>
<a:theme xmlns:a="http://schemas.openxmlformats.org/drawingml/2006/main" name="Вид">
  <a:themeElements>
    <a:clrScheme name="Вид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Вид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Вид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9168DCE-134F-4610-A6AA-88CEBE8D71D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5EDE3176-A15D-46A3-BDDB-64A0D736322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ABF691C-888B-4061-8A6F-D5CE84A0254B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TM03457515[[fn=Вид]]</Template>
  <TotalTime>33</TotalTime>
  <Words>489</Words>
  <Application>Microsoft Office PowerPoint</Application>
  <PresentationFormat>Широкоэкранный</PresentationFormat>
  <Paragraphs>78</Paragraphs>
  <Slides>4</Slides>
  <Notes>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10" baseType="lpstr">
      <vt:lpstr>Arial</vt:lpstr>
      <vt:lpstr>Calibri</vt:lpstr>
      <vt:lpstr>Century Schoolbook</vt:lpstr>
      <vt:lpstr>Times New Roman</vt:lpstr>
      <vt:lpstr>Wingdings 2</vt:lpstr>
      <vt:lpstr>Вид</vt:lpstr>
      <vt:lpstr>Инструменты управления задачами в Agile-проектах</vt:lpstr>
      <vt:lpstr>Сила коммуникации</vt:lpstr>
      <vt:lpstr>Вовлечение слушателей</vt:lpstr>
      <vt:lpstr>СПАСИБО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Инструменты управления задачами в Agile-проектах</dc:title>
  <dc:creator>dexter04090506@gmail.com</dc:creator>
  <cp:lastModifiedBy>dexter04090506@gmail.com</cp:lastModifiedBy>
  <cp:revision>4</cp:revision>
  <dcterms:created xsi:type="dcterms:W3CDTF">2025-12-26T07:44:46Z</dcterms:created>
  <dcterms:modified xsi:type="dcterms:W3CDTF">2025-12-26T08:18:21Z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